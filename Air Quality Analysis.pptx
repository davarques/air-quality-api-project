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PT Sans Narrow"/>
      <p:regular r:id="rId23"/>
      <p:bold r:id="rId24"/>
    </p:embeddedFont>
    <p:embeddedFont>
      <p:font typeface="Open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49C3490-0705-4971-B070-BAFBE7342E30}">
  <a:tblStyle styleId="{C49C3490-0705-4971-B070-BAFBE7342E3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9A03BA8-16BB-4148-9CCB-24FEF52466C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PTSansNarrow-bold.fntdata"/><Relationship Id="rId23" Type="http://schemas.openxmlformats.org/officeDocument/2006/relationships/font" Target="fonts/PTSansNarrow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penSans-bold.fntdata"/><Relationship Id="rId25" Type="http://schemas.openxmlformats.org/officeDocument/2006/relationships/font" Target="fonts/OpenSans-regular.fntdata"/><Relationship Id="rId28" Type="http://schemas.openxmlformats.org/officeDocument/2006/relationships/font" Target="fonts/OpenSans-boldItalic.fntdata"/><Relationship Id="rId27" Type="http://schemas.openxmlformats.org/officeDocument/2006/relationships/font" Target="fonts/Open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oboto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ccf04f977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ccf04f97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ccf04f9772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ccf04f977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ccf04f9772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ccf04f977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ccf04f9772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ccf04f9772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ccf04f9772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ccf04f9772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ccf04f9772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ccf04f9772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ccf04f9772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ccf04f9772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ccf04f9772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ccf04f9772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cd6f311b2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cd6f311b2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cd6f311b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cd6f311b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cd6f311b2b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cd6f311b2b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hyperlink" Target="https://rapidapi.com/weatherbit/api/air-quality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kaggle.com/datasets/max-mind/world-cities-database?select=worldcitiespop.csv" TargetMode="External"/><Relationship Id="rId4" Type="http://schemas.openxmlformats.org/officeDocument/2006/relationships/hyperlink" Target="https://zenodo.org/records/8165229" TargetMode="External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200">
                <a:solidFill>
                  <a:schemeClr val="accent5"/>
                </a:solidFill>
              </a:rPr>
              <a:t>Air Quality Analysis</a:t>
            </a:r>
            <a:endParaRPr sz="5200">
              <a:solidFill>
                <a:schemeClr val="accent5"/>
              </a:solidFill>
            </a:endParaRPr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50" y="2774164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accent1"/>
                </a:solidFill>
              </a:rPr>
              <a:t>for Business Operations</a:t>
            </a:r>
            <a:endParaRPr sz="2100">
              <a:solidFill>
                <a:schemeClr val="accent1"/>
              </a:solidFill>
            </a:endParaRPr>
          </a:p>
        </p:txBody>
      </p:sp>
      <p:pic>
        <p:nvPicPr>
          <p:cNvPr id="68" name="Google Shape;6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7963" y="3287375"/>
            <a:ext cx="568075" cy="5680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3"/>
          <p:cNvSpPr txBox="1"/>
          <p:nvPr/>
        </p:nvSpPr>
        <p:spPr>
          <a:xfrm>
            <a:off x="6894225" y="4236875"/>
            <a:ext cx="1333800" cy="5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David Arques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Aprl 2024</a:t>
            </a:r>
            <a:endParaRPr sz="1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5"/>
                </a:solidFill>
              </a:rPr>
              <a:t>Project Overview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311700" y="1266325"/>
            <a:ext cx="8520600" cy="34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28">
                <a:solidFill>
                  <a:schemeClr val="accent1"/>
                </a:solidFill>
              </a:rPr>
              <a:t>Context:</a:t>
            </a:r>
            <a:r>
              <a:rPr lang="en-GB" sz="1328"/>
              <a:t> Tech companies </a:t>
            </a:r>
            <a:r>
              <a:rPr b="1" lang="en-GB" sz="1328"/>
              <a:t>outsource</a:t>
            </a:r>
            <a:r>
              <a:rPr lang="en-GB" sz="1328"/>
              <a:t> aspects of their </a:t>
            </a:r>
            <a:r>
              <a:rPr b="1" lang="en-GB" sz="1328"/>
              <a:t>workforce 💼</a:t>
            </a:r>
            <a:r>
              <a:rPr lang="en-GB" sz="1328"/>
              <a:t> (sales, support, operations, etc) to external firms known as </a:t>
            </a:r>
            <a:r>
              <a:rPr b="1" lang="en-GB" sz="1328"/>
              <a:t>vendor partners</a:t>
            </a:r>
            <a:r>
              <a:rPr lang="en-GB" sz="1328"/>
              <a:t> to </a:t>
            </a:r>
            <a:r>
              <a:rPr b="1" lang="en-GB" sz="1328"/>
              <a:t>scale up 🔀 </a:t>
            </a:r>
            <a:r>
              <a:rPr lang="en-GB" sz="1328"/>
              <a:t>operations. </a:t>
            </a:r>
            <a:endParaRPr sz="132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28">
                <a:solidFill>
                  <a:schemeClr val="accent1"/>
                </a:solidFill>
              </a:rPr>
              <a:t>Current Scenario:</a:t>
            </a:r>
            <a:r>
              <a:rPr lang="en-GB" sz="1328"/>
              <a:t> We are operating in two Asian locations (</a:t>
            </a:r>
            <a:r>
              <a:rPr b="1" lang="en-GB" sz="1328"/>
              <a:t>India 🇮🇳</a:t>
            </a:r>
            <a:r>
              <a:rPr lang="en-GB" sz="1328"/>
              <a:t> and the </a:t>
            </a:r>
            <a:r>
              <a:rPr b="1" lang="en-GB" sz="1328"/>
              <a:t>Philippines 🇵🇭</a:t>
            </a:r>
            <a:r>
              <a:rPr lang="en-GB" sz="1328"/>
              <a:t>).</a:t>
            </a:r>
            <a:endParaRPr sz="132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28">
                <a:solidFill>
                  <a:schemeClr val="accent1"/>
                </a:solidFill>
              </a:rPr>
              <a:t>Problem Statement:</a:t>
            </a:r>
            <a:endParaRPr b="1" sz="1328">
              <a:solidFill>
                <a:schemeClr val="accent1"/>
              </a:solidFill>
            </a:endParaRPr>
          </a:p>
          <a:p>
            <a:pPr indent="-312973" lvl="0" marL="457200" rtl="0" algn="l">
              <a:spcBef>
                <a:spcPts val="0"/>
              </a:spcBef>
              <a:spcAft>
                <a:spcPts val="0"/>
              </a:spcAft>
              <a:buSzPts val="1329"/>
              <a:buChar char="●"/>
            </a:pPr>
            <a:r>
              <a:rPr lang="en-GB" sz="1328"/>
              <a:t>Investigate the </a:t>
            </a:r>
            <a:r>
              <a:rPr b="1" lang="en-GB" sz="1328"/>
              <a:t>current air quality </a:t>
            </a:r>
            <a:r>
              <a:rPr b="1" lang="en-GB" sz="1100">
                <a:solidFill>
                  <a:srgbClr val="0D0D0D"/>
                </a:solidFill>
                <a:highlight>
                  <a:srgbClr val="FFFFFF"/>
                </a:highlight>
              </a:rPr>
              <a:t>♻️</a:t>
            </a:r>
            <a:r>
              <a:rPr lang="en-GB" sz="1328"/>
              <a:t> of our operating location.</a:t>
            </a:r>
            <a:endParaRPr sz="1328"/>
          </a:p>
          <a:p>
            <a:pPr indent="-312973" lvl="0" marL="457200" rtl="0" algn="l">
              <a:spcBef>
                <a:spcPts val="0"/>
              </a:spcBef>
              <a:spcAft>
                <a:spcPts val="0"/>
              </a:spcAft>
              <a:buSzPts val="1329"/>
              <a:buChar char="●"/>
            </a:pPr>
            <a:r>
              <a:rPr b="1" lang="en-GB" sz="1328"/>
              <a:t>Explore</a:t>
            </a:r>
            <a:r>
              <a:rPr lang="en-GB" sz="1328"/>
              <a:t> potential </a:t>
            </a:r>
            <a:r>
              <a:rPr b="1" lang="en-GB" sz="1328"/>
              <a:t>new locations 🏢</a:t>
            </a:r>
            <a:r>
              <a:rPr lang="en-GB" sz="1328"/>
              <a:t> with similar costs and better air quality.</a:t>
            </a:r>
            <a:endParaRPr sz="132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6" name="Google Shape;76;p14"/>
          <p:cNvGraphicFramePr/>
          <p:nvPr/>
        </p:nvGraphicFramePr>
        <p:xfrm>
          <a:off x="1724450" y="33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{C49C3490-0705-4971-B070-BAFBE7342E30}</a:tableStyleId>
              </a:tblPr>
              <a:tblGrid>
                <a:gridCol w="1461800"/>
                <a:gridCol w="1524525"/>
                <a:gridCol w="2179700"/>
              </a:tblGrid>
              <a:tr h="37440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Key</a:t>
                      </a:r>
                      <a:r>
                        <a:rPr lang="en-GB" sz="12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decision driver</a:t>
                      </a:r>
                      <a:endParaRPr sz="1200">
                        <a:solidFill>
                          <a:schemeClr val="dk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accen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Before</a:t>
                      </a:r>
                      <a:r>
                        <a:rPr lang="en-GB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Now</a:t>
                      </a:r>
                      <a:r>
                        <a:rPr lang="en-GB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</a:tr>
              <a:tr h="5373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Costs</a:t>
                      </a:r>
                      <a:r>
                        <a:rPr lang="en-GB" sz="12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(like labor)</a:t>
                      </a:r>
                      <a:endParaRPr sz="1200">
                        <a:solidFill>
                          <a:schemeClr val="dk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Air Quality</a:t>
                      </a:r>
                      <a:r>
                        <a:rPr lang="en-GB" sz="12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(</a:t>
                      </a:r>
                      <a:r>
                        <a:rPr lang="en-GB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New!</a:t>
                      </a:r>
                      <a:r>
                        <a:rPr lang="en-GB" sz="12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) + Costs</a:t>
                      </a:r>
                      <a:r>
                        <a:rPr lang="en-GB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182475" y="115425"/>
            <a:ext cx="4476300" cy="72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980"/>
              <a:t>Data Source 1:</a:t>
            </a:r>
            <a:r>
              <a:rPr lang="en-GB" sz="2980">
                <a:solidFill>
                  <a:schemeClr val="accent5"/>
                </a:solidFill>
              </a:rPr>
              <a:t> Air Quality API</a:t>
            </a:r>
            <a:endParaRPr sz="2980">
              <a:solidFill>
                <a:schemeClr val="accent5"/>
              </a:solidFill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4073350" y="2645475"/>
            <a:ext cx="879300" cy="763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4871150" y="1581625"/>
            <a:ext cx="3936900" cy="24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Choosen indexes</a:t>
            </a:r>
            <a:endParaRPr>
              <a:solidFill>
                <a:schemeClr val="accent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pen Sans"/>
              <a:buChar char="●"/>
            </a:pPr>
            <a:r>
              <a:rPr b="1" lang="en-GB" sz="13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AQI</a:t>
            </a:r>
            <a:r>
              <a:rPr lang="en-GB" sz="13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en-GB" sz="13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Key and main air quality indicator used globally. </a:t>
            </a:r>
            <a:endParaRPr sz="13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pen Sans"/>
              <a:buChar char="●"/>
            </a:pPr>
            <a:r>
              <a:rPr b="1" lang="en-GB" sz="13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PM2.5</a:t>
            </a:r>
            <a:r>
              <a:rPr lang="en-GB" sz="13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en-GB" sz="13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Indicator of air pollution, helps evaluate health risks.</a:t>
            </a:r>
            <a:endParaRPr sz="13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pen Sans"/>
              <a:buChar char="●"/>
            </a:pPr>
            <a:r>
              <a:rPr b="1" lang="en-GB" sz="13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O3</a:t>
            </a:r>
            <a:r>
              <a:rPr lang="en-GB" sz="13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en-GB" sz="13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Significant contributor to air quality and respiratory health check.</a:t>
            </a:r>
            <a:endParaRPr sz="11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4" name="Google Shape;8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7575" y="1005275"/>
            <a:ext cx="637075" cy="6370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/>
          <p:nvPr/>
        </p:nvSpPr>
        <p:spPr>
          <a:xfrm>
            <a:off x="494975" y="1806200"/>
            <a:ext cx="3408300" cy="23334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Requests: </a:t>
            </a:r>
            <a:r>
              <a:rPr lang="en-GB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Historic, Current, and Forecasted air quality </a:t>
            </a:r>
            <a:r>
              <a:rPr lang="en-GB" sz="1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(</a:t>
            </a:r>
            <a:r>
              <a:rPr lang="en-GB" sz="11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</a:t>
            </a:r>
            <a:r>
              <a:rPr lang="en-GB" sz="1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). </a:t>
            </a:r>
            <a:endParaRPr sz="1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Parameters:</a:t>
            </a:r>
            <a:endParaRPr b="1" sz="1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"/>
              <a:buChar char="●"/>
            </a:pPr>
            <a:r>
              <a:rPr lang="en-GB" sz="1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City name</a:t>
            </a:r>
            <a:endParaRPr sz="1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"/>
              <a:buChar char="●"/>
            </a:pPr>
            <a:r>
              <a:rPr lang="en-GB" sz="1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Longitude</a:t>
            </a:r>
            <a:endParaRPr sz="1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"/>
              <a:buChar char="●"/>
            </a:pPr>
            <a:r>
              <a:rPr lang="en-GB" sz="1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Latitude</a:t>
            </a:r>
            <a:endParaRPr sz="1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Results:</a:t>
            </a:r>
            <a:r>
              <a:rPr lang="en-GB" sz="1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Multiple air quality indexes. </a:t>
            </a:r>
            <a:endParaRPr sz="1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1300550" y="219525"/>
            <a:ext cx="30450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5"/>
                </a:solidFill>
              </a:rPr>
              <a:t>Air Quality Rating </a:t>
            </a:r>
            <a:endParaRPr>
              <a:solidFill>
                <a:schemeClr val="accent5"/>
              </a:solidFill>
            </a:endParaRPr>
          </a:p>
        </p:txBody>
      </p:sp>
      <p:graphicFrame>
        <p:nvGraphicFramePr>
          <p:cNvPr id="91" name="Google Shape;91;p16"/>
          <p:cNvGraphicFramePr/>
          <p:nvPr/>
        </p:nvGraphicFramePr>
        <p:xfrm>
          <a:off x="576050" y="101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{A9A03BA8-16BB-4148-9CCB-24FEF52466CF}</a:tableStyleId>
              </a:tblPr>
              <a:tblGrid>
                <a:gridCol w="1077150"/>
                <a:gridCol w="1238725"/>
                <a:gridCol w="1252150"/>
                <a:gridCol w="1898475"/>
                <a:gridCol w="2612100"/>
              </a:tblGrid>
              <a:tr h="605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50"/>
                        <a:t>AQI Range</a:t>
                      </a:r>
                      <a:endParaRPr sz="950"/>
                    </a:p>
                  </a:txBody>
                  <a:tcPr marT="63500" marB="63500" marR="63500" marL="63500" anchor="b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50">
                          <a:solidFill>
                            <a:srgbClr val="0D0D0D"/>
                          </a:solidFill>
                        </a:rPr>
                        <a:t>PM2.5 Level (µg/m³) </a:t>
                      </a:r>
                      <a:endParaRPr sz="950">
                        <a:solidFill>
                          <a:srgbClr val="0D0D0D"/>
                        </a:solidFill>
                      </a:endParaRPr>
                    </a:p>
                  </a:txBody>
                  <a:tcPr marT="63500" marB="63500" marR="63500" marL="63500" anchor="b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50">
                          <a:solidFill>
                            <a:srgbClr val="0D0D0D"/>
                          </a:solidFill>
                        </a:rPr>
                        <a:t>O3 Level (ppb)</a:t>
                      </a:r>
                      <a:endParaRPr sz="950">
                        <a:solidFill>
                          <a:srgbClr val="0D0D0D"/>
                        </a:solidFill>
                      </a:endParaRPr>
                    </a:p>
                  </a:txBody>
                  <a:tcPr marT="63500" marB="63500" marR="63500" marL="63500" anchor="b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50"/>
                        <a:t>Air Quality Level</a:t>
                      </a:r>
                      <a:endParaRPr sz="950"/>
                    </a:p>
                  </a:txBody>
                  <a:tcPr marT="63500" marB="63500" marR="63500" marL="63500" anchor="b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50">
                          <a:solidFill>
                            <a:srgbClr val="0D0D0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Description</a:t>
                      </a:r>
                      <a:endParaRPr sz="950">
                        <a:solidFill>
                          <a:srgbClr val="0D0D0D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b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605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/>
                        <a:t>0-50</a:t>
                      </a:r>
                      <a:endParaRPr sz="950"/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/>
                        <a:t>0-12</a:t>
                      </a:r>
                      <a:endParaRPr sz="950"/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>
                          <a:solidFill>
                            <a:srgbClr val="0D0D0D"/>
                          </a:solidFill>
                        </a:rPr>
                        <a:t>0-54</a:t>
                      </a:r>
                      <a:endParaRPr sz="950">
                        <a:solidFill>
                          <a:srgbClr val="0D0D0D"/>
                        </a:solidFill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50"/>
                        <a:t>Good</a:t>
                      </a:r>
                      <a:endParaRPr b="1" sz="950"/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>
                          <a:solidFill>
                            <a:srgbClr val="0D0D0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Air quality is satisfactory, with little or no risk.</a:t>
                      </a:r>
                      <a:endParaRPr sz="950">
                        <a:solidFill>
                          <a:srgbClr val="0D0D0D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719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/>
                        <a:t>51-100</a:t>
                      </a:r>
                      <a:endParaRPr sz="950"/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/>
                        <a:t>12.1-35.4</a:t>
                      </a:r>
                      <a:endParaRPr sz="950"/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>
                          <a:solidFill>
                            <a:srgbClr val="0D0D0D"/>
                          </a:solidFill>
                        </a:rPr>
                        <a:t>55-70</a:t>
                      </a:r>
                      <a:endParaRPr sz="950">
                        <a:solidFill>
                          <a:srgbClr val="0D0D0D"/>
                        </a:solidFill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50"/>
                        <a:t>Moderate</a:t>
                      </a:r>
                      <a:endParaRPr b="1" sz="950"/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>
                          <a:solidFill>
                            <a:srgbClr val="0D0D0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Air quality is acceptable, but could be concerning for sensitive individuals.</a:t>
                      </a:r>
                      <a:endParaRPr sz="950">
                        <a:solidFill>
                          <a:srgbClr val="0D0D0D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719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/>
                        <a:t>101-150</a:t>
                      </a:r>
                      <a:endParaRPr sz="950"/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/>
                        <a:t>35.5-55.4</a:t>
                      </a:r>
                      <a:endParaRPr sz="950"/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>
                          <a:solidFill>
                            <a:srgbClr val="0D0D0D"/>
                          </a:solidFill>
                        </a:rPr>
                        <a:t>71-105</a:t>
                      </a:r>
                      <a:endParaRPr sz="950">
                        <a:solidFill>
                          <a:srgbClr val="0D0D0D"/>
                        </a:solidFill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50"/>
                        <a:t>Unhealthy </a:t>
                      </a:r>
                      <a:endParaRPr b="1" sz="950"/>
                    </a:p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50"/>
                        <a:t>for Sensitive Groups</a:t>
                      </a:r>
                      <a:endParaRPr b="1" sz="950"/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>
                          <a:solidFill>
                            <a:srgbClr val="0D0D0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Sensitive individuals may experience health effects, and general public is unlikely. </a:t>
                      </a:r>
                      <a:endParaRPr sz="950">
                        <a:solidFill>
                          <a:srgbClr val="0D0D0D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</a:tr>
              <a:tr h="845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/>
                        <a:t>151-500</a:t>
                      </a:r>
                      <a:endParaRPr sz="950"/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/>
                        <a:t>55.5-500</a:t>
                      </a:r>
                      <a:endParaRPr sz="950"/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>
                          <a:solidFill>
                            <a:srgbClr val="0D0D0D"/>
                          </a:solidFill>
                        </a:rPr>
                        <a:t>106-500</a:t>
                      </a:r>
                      <a:endParaRPr sz="950">
                        <a:solidFill>
                          <a:srgbClr val="0D0D0D"/>
                        </a:solidFill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50"/>
                        <a:t>Hazardous/Dangerous</a:t>
                      </a:r>
                      <a:endParaRPr b="1" sz="950"/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>
                          <a:solidFill>
                            <a:srgbClr val="0D0D0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Everyone may experience serious health effects; the air quality is a significant risk to public health.</a:t>
                      </a:r>
                      <a:endParaRPr sz="950">
                        <a:solidFill>
                          <a:srgbClr val="0D0D0D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</a:tbl>
          </a:graphicData>
        </a:graphic>
      </p:graphicFrame>
      <p:pic>
        <p:nvPicPr>
          <p:cNvPr id="92" name="Google Shape;9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925" y="302364"/>
            <a:ext cx="541725" cy="54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95700" y="115425"/>
            <a:ext cx="4476300" cy="72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980"/>
              <a:t>Data Source 2:</a:t>
            </a:r>
            <a:r>
              <a:rPr lang="en-GB" sz="2980">
                <a:solidFill>
                  <a:schemeClr val="accent5"/>
                </a:solidFill>
              </a:rPr>
              <a:t> Kaggle Datasets</a:t>
            </a:r>
            <a:endParaRPr sz="2980">
              <a:solidFill>
                <a:schemeClr val="accent5"/>
              </a:solidFill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633750" y="2087075"/>
            <a:ext cx="3269400" cy="18420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World Cities Database</a:t>
            </a:r>
            <a:r>
              <a:rPr lang="en-GB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(</a:t>
            </a:r>
            <a:r>
              <a:rPr lang="en-GB" sz="12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</a:t>
            </a:r>
            <a:r>
              <a:rPr lang="en-GB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) 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●"/>
            </a:pPr>
            <a:r>
              <a:rPr lang="en-GB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City name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●"/>
            </a:pPr>
            <a:r>
              <a:rPr lang="en-GB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Longitude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●"/>
            </a:pPr>
            <a:r>
              <a:rPr lang="en-GB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Latitude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4974950" y="2087075"/>
            <a:ext cx="3707400" cy="18909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Global Country Information 2023</a:t>
            </a:r>
            <a:r>
              <a:rPr lang="en-GB" sz="1200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(</a:t>
            </a:r>
            <a:r>
              <a:rPr lang="en-GB" sz="12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</a:t>
            </a:r>
            <a:r>
              <a:rPr lang="en-GB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●"/>
            </a:pPr>
            <a:r>
              <a:rPr lang="en-GB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Minimum Wage (in USD $)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●"/>
            </a:pPr>
            <a:r>
              <a:rPr lang="en-GB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Unemployment Rate (%) 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●"/>
            </a:pPr>
            <a:r>
              <a:rPr lang="en-GB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Gross primary education enrollment (%)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84563" y="1422475"/>
            <a:ext cx="567775" cy="56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44763" y="1422463"/>
            <a:ext cx="567775" cy="567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742500" y="445025"/>
            <a:ext cx="80898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5"/>
                </a:solidFill>
              </a:rPr>
              <a:t>Hypotheses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742500" y="1275025"/>
            <a:ext cx="6846900" cy="3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accent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Hypothesis 1:</a:t>
            </a:r>
            <a:endParaRPr b="1">
              <a:solidFill>
                <a:schemeClr val="accent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</a:t>
            </a:r>
            <a:r>
              <a:rPr b="1" lang="en-GB">
                <a:solidFill>
                  <a:schemeClr val="dk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Air quality</a:t>
            </a:r>
            <a:r>
              <a:rPr lang="en-GB">
                <a:solidFill>
                  <a:schemeClr val="dk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in our </a:t>
            </a:r>
            <a:r>
              <a:rPr b="1" lang="en-GB">
                <a:solidFill>
                  <a:schemeClr val="dk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current cities</a:t>
            </a:r>
            <a:r>
              <a:rPr lang="en-GB">
                <a:solidFill>
                  <a:schemeClr val="dk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(Gurugram, Hyderabad, and Manila) is </a:t>
            </a:r>
            <a:r>
              <a:rPr b="1" lang="en-GB">
                <a:solidFill>
                  <a:schemeClr val="dk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unhealthy or dangerous</a:t>
            </a:r>
            <a:r>
              <a:rPr lang="en-GB">
                <a:solidFill>
                  <a:schemeClr val="dk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 Exploring new locations with better air quality is a good idea.</a:t>
            </a:r>
            <a:endParaRPr>
              <a:solidFill>
                <a:schemeClr val="dk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accent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Hypothesis 2:</a:t>
            </a:r>
            <a:endParaRPr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We can discover </a:t>
            </a:r>
            <a:r>
              <a:rPr b="1" lang="en-GB">
                <a:solidFill>
                  <a:schemeClr val="dk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new locations</a:t>
            </a:r>
            <a:r>
              <a:rPr lang="en-GB">
                <a:solidFill>
                  <a:schemeClr val="dk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to open offices that offer </a:t>
            </a:r>
            <a:r>
              <a:rPr b="1" lang="en-GB">
                <a:solidFill>
                  <a:schemeClr val="dk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better air quality</a:t>
            </a:r>
            <a:r>
              <a:rPr lang="en-GB">
                <a:solidFill>
                  <a:schemeClr val="dk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than our current sites (India and the Philippines) with </a:t>
            </a:r>
            <a:r>
              <a:rPr b="1" lang="en-GB">
                <a:solidFill>
                  <a:schemeClr val="dk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similar labor costs</a:t>
            </a:r>
            <a:r>
              <a:rPr lang="en-GB">
                <a:solidFill>
                  <a:schemeClr val="dk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so we don't have to sacrifice much budget.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9225" y="3890075"/>
            <a:ext cx="585550" cy="58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Hypotheses 1: </a:t>
            </a:r>
            <a:r>
              <a:rPr lang="en-GB">
                <a:solidFill>
                  <a:schemeClr val="accent5"/>
                </a:solidFill>
              </a:rPr>
              <a:t>Findings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693925" y="1355725"/>
            <a:ext cx="7004700" cy="20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# Air Quality</a:t>
            </a:r>
            <a:r>
              <a:rPr lang="en-GB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-GB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Function</a:t>
            </a:r>
            <a:r>
              <a:rPr lang="en-GB">
                <a:solidFill>
                  <a:srgbClr val="0D0D0D"/>
                </a:solidFill>
                <a:latin typeface="Open Sans"/>
                <a:ea typeface="Open Sans"/>
                <a:cs typeface="Open Sans"/>
                <a:sym typeface="Open Sans"/>
              </a:rPr>
              <a:t>: get_air_quality_info(</a:t>
            </a:r>
            <a:r>
              <a:rPr lang="en-GB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‘city_name’</a:t>
            </a:r>
            <a:r>
              <a:rPr lang="en-GB">
                <a:solidFill>
                  <a:srgbClr val="0D0D0D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GB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‘longitud’</a:t>
            </a:r>
            <a:r>
              <a:rPr lang="en-GB">
                <a:solidFill>
                  <a:srgbClr val="0D0D0D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GB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‘latitud’</a:t>
            </a:r>
            <a:r>
              <a:rPr lang="en-GB">
                <a:solidFill>
                  <a:srgbClr val="0D0D0D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>
              <a:solidFill>
                <a:srgbClr val="0D0D0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15" name="Google Shape;115;p19"/>
          <p:cNvGraphicFramePr/>
          <p:nvPr/>
        </p:nvGraphicFramePr>
        <p:xfrm>
          <a:off x="788538" y="1818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{C49C3490-0705-4971-B070-BAFBE7342E30}</a:tableStyleId>
              </a:tblPr>
              <a:tblGrid>
                <a:gridCol w="2338075"/>
                <a:gridCol w="2300000"/>
                <a:gridCol w="2272000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Air Quality</a:t>
                      </a:r>
                      <a:r>
                        <a:rPr b="1" lang="en-GB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b="1" lang="en-GB">
                          <a:solidFill>
                            <a:schemeClr val="accen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Current Country Results</a:t>
                      </a:r>
                      <a:endParaRPr b="1">
                        <a:solidFill>
                          <a:schemeClr val="accen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      Gurgaon 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   Hyderabad 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Manila (Quiapo)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solidFill>
                      <a:srgbClr val="F6B26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000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City Name: Gurgaon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000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Country Code: IN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000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Longitude: 77.029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000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Latitude: 28.456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000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AQI: 150 - Unhealthy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000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PM2.5: 54 - Unhealthy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000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O3: 17.7 - Good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000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City Name: Hyderabad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000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Country Code: IN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000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Longitude: 78.4747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000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Latitude: 17.3617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000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AQI: 232 - Dangerous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000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PM2.5: 117 - Dangerous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000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O3: 42.6 - Good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000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City Name: Quiapo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000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Country Code: PH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000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Longitude: 120.9772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000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Latitude: 14.5958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000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AQI: 101 - Unhealthy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000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PM2.5: 28 - Moderate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000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O3: 163 - Dangerous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pic>
        <p:nvPicPr>
          <p:cNvPr id="116" name="Google Shape;11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1201" y="583638"/>
            <a:ext cx="430150" cy="43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9"/>
          <p:cNvSpPr txBox="1"/>
          <p:nvPr/>
        </p:nvSpPr>
        <p:spPr>
          <a:xfrm>
            <a:off x="2083550" y="2214625"/>
            <a:ext cx="430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🇮🇳</a:t>
            </a:r>
            <a:endParaRPr sz="1500"/>
          </a:p>
        </p:txBody>
      </p:sp>
      <p:sp>
        <p:nvSpPr>
          <p:cNvPr id="118" name="Google Shape;118;p19"/>
          <p:cNvSpPr txBox="1"/>
          <p:nvPr/>
        </p:nvSpPr>
        <p:spPr>
          <a:xfrm>
            <a:off x="4461500" y="2214625"/>
            <a:ext cx="430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🇮🇳</a:t>
            </a:r>
            <a:endParaRPr sz="1500"/>
          </a:p>
        </p:txBody>
      </p:sp>
      <p:sp>
        <p:nvSpPr>
          <p:cNvPr id="119" name="Google Shape;119;p19"/>
          <p:cNvSpPr txBox="1"/>
          <p:nvPr/>
        </p:nvSpPr>
        <p:spPr>
          <a:xfrm>
            <a:off x="6926625" y="2214625"/>
            <a:ext cx="514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🇵🇭</a:t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Hypotheses 2: </a:t>
            </a:r>
            <a:r>
              <a:rPr lang="en-GB">
                <a:solidFill>
                  <a:schemeClr val="accent5"/>
                </a:solidFill>
              </a:rPr>
              <a:t>Findings</a:t>
            </a:r>
            <a:endParaRPr>
              <a:solidFill>
                <a:schemeClr val="accent5"/>
              </a:solidFill>
            </a:endParaRPr>
          </a:p>
        </p:txBody>
      </p:sp>
      <p:pic>
        <p:nvPicPr>
          <p:cNvPr id="125" name="Google Shape;12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1201" y="583638"/>
            <a:ext cx="430150" cy="43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0"/>
          <p:cNvSpPr txBox="1"/>
          <p:nvPr/>
        </p:nvSpPr>
        <p:spPr>
          <a:xfrm>
            <a:off x="416375" y="1192000"/>
            <a:ext cx="2445900" cy="29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Dataset: </a:t>
            </a:r>
            <a:r>
              <a:rPr b="1" lang="en-GB" sz="1200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Global Country Info</a:t>
            </a:r>
            <a:endParaRPr b="1" sz="1200">
              <a:solidFill>
                <a:schemeClr val="accent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Size</a:t>
            </a:r>
            <a:r>
              <a:rPr lang="en-GB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: 141 countries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Key Columns</a:t>
            </a:r>
            <a:r>
              <a:rPr lang="en-GB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●"/>
            </a:pPr>
            <a:r>
              <a:rPr lang="en-GB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Minimum wage ($)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●"/>
            </a:pPr>
            <a:r>
              <a:rPr lang="en-GB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Unemployment rate (%)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●"/>
            </a:pPr>
            <a:r>
              <a:rPr lang="en-GB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Gross primary education enrollment (%)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Sorting</a:t>
            </a:r>
            <a:r>
              <a:rPr lang="en-GB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●"/>
            </a:pPr>
            <a:r>
              <a:rPr lang="en-GB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Minimum wage &amp; Unemployment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○"/>
            </a:pPr>
            <a:r>
              <a:rPr lang="en-GB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(Low to High)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●"/>
            </a:pPr>
            <a:r>
              <a:rPr lang="en-GB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Education 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○"/>
            </a:pPr>
            <a:r>
              <a:rPr lang="en-GB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(High to Low)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7" name="Google Shape;12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9375" y="1192000"/>
            <a:ext cx="4953924" cy="3370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0"/>
          <p:cNvSpPr/>
          <p:nvPr/>
        </p:nvSpPr>
        <p:spPr>
          <a:xfrm>
            <a:off x="3691350" y="3616925"/>
            <a:ext cx="663000" cy="615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29" name="Google Shape;129;p20"/>
          <p:cNvCxnSpPr/>
          <p:nvPr/>
        </p:nvCxnSpPr>
        <p:spPr>
          <a:xfrm>
            <a:off x="7433350" y="2571750"/>
            <a:ext cx="2862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Hypotheses 2: </a:t>
            </a:r>
            <a:r>
              <a:rPr lang="en-GB">
                <a:solidFill>
                  <a:schemeClr val="accent5"/>
                </a:solidFill>
              </a:rPr>
              <a:t>Findings</a:t>
            </a:r>
            <a:endParaRPr>
              <a:solidFill>
                <a:schemeClr val="accent5"/>
              </a:solidFill>
            </a:endParaRPr>
          </a:p>
        </p:txBody>
      </p:sp>
      <p:pic>
        <p:nvPicPr>
          <p:cNvPr id="135" name="Google Shape;13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1201" y="583638"/>
            <a:ext cx="430150" cy="43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1"/>
          <p:cNvSpPr txBox="1"/>
          <p:nvPr/>
        </p:nvSpPr>
        <p:spPr>
          <a:xfrm>
            <a:off x="407700" y="1200675"/>
            <a:ext cx="2758200" cy="17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Dataset: </a:t>
            </a:r>
            <a:r>
              <a:rPr b="1" lang="en-GB" sz="1200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Global Country Info</a:t>
            </a:r>
            <a:endParaRPr b="1" sz="1200">
              <a:solidFill>
                <a:schemeClr val="accent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●"/>
            </a:pPr>
            <a:r>
              <a:rPr b="1" lang="en-GB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Subset size: </a:t>
            </a:r>
            <a:r>
              <a:rPr lang="en-GB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11 countries 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Filter:</a:t>
            </a:r>
            <a:endParaRPr b="1"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●"/>
            </a:pPr>
            <a:r>
              <a:rPr lang="en-GB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Minimum wage($) [0-2]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●"/>
            </a:pPr>
            <a:r>
              <a:rPr lang="en-GB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Unemployment rate (%) [0-5]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●"/>
            </a:pPr>
            <a:r>
              <a:rPr lang="en-GB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Gross primary education enrollment (%) &gt; 110 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7" name="Google Shape;13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4275" y="1117725"/>
            <a:ext cx="5147275" cy="348460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1"/>
          <p:cNvSpPr/>
          <p:nvPr/>
        </p:nvSpPr>
        <p:spPr>
          <a:xfrm>
            <a:off x="3734725" y="3139875"/>
            <a:ext cx="1938000" cy="1119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39" name="Google Shape;139;p21"/>
          <p:cNvGraphicFramePr/>
          <p:nvPr/>
        </p:nvGraphicFramePr>
        <p:xfrm>
          <a:off x="858275" y="2879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{C49C3490-0705-4971-B070-BAFBE7342E30}</a:tableStyleId>
              </a:tblPr>
              <a:tblGrid>
                <a:gridCol w="945875"/>
                <a:gridCol w="911175"/>
              </a:tblGrid>
              <a:tr h="2766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Finalist Locations</a:t>
                      </a:r>
                      <a:endParaRPr b="1" sz="9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 hMerge="1"/>
              </a:tr>
              <a:tr h="13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Country</a:t>
                      </a:r>
                      <a:endParaRPr sz="9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Capital City </a:t>
                      </a:r>
                      <a:endParaRPr sz="9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235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Guinea-Bissau</a:t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Bissau</a:t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Madagascar</a:t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Antananarivo</a:t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Nepal</a:t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Kathmandu</a:t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Togo</a:t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Lome</a:t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cxnSp>
        <p:nvCxnSpPr>
          <p:cNvPr id="140" name="Google Shape;140;p21"/>
          <p:cNvCxnSpPr/>
          <p:nvPr/>
        </p:nvCxnSpPr>
        <p:spPr>
          <a:xfrm>
            <a:off x="5256275" y="3426075"/>
            <a:ext cx="2169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" name="Google Shape;141;p21"/>
          <p:cNvCxnSpPr/>
          <p:nvPr/>
        </p:nvCxnSpPr>
        <p:spPr>
          <a:xfrm>
            <a:off x="5191825" y="3968800"/>
            <a:ext cx="376800" cy="3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Hypotheses 2: </a:t>
            </a:r>
            <a:r>
              <a:rPr lang="en-GB">
                <a:solidFill>
                  <a:schemeClr val="accent5"/>
                </a:solidFill>
              </a:rPr>
              <a:t>Findings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693925" y="1251325"/>
            <a:ext cx="7004700" cy="5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# Air Quality</a:t>
            </a:r>
            <a:r>
              <a:rPr lang="en-GB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-GB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Function</a:t>
            </a:r>
            <a:r>
              <a:rPr lang="en-GB">
                <a:solidFill>
                  <a:srgbClr val="0D0D0D"/>
                </a:solidFill>
                <a:latin typeface="Open Sans"/>
                <a:ea typeface="Open Sans"/>
                <a:cs typeface="Open Sans"/>
                <a:sym typeface="Open Sans"/>
              </a:rPr>
              <a:t>: get_air_quality_info(</a:t>
            </a:r>
            <a:r>
              <a:rPr lang="en-GB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‘city_name’</a:t>
            </a:r>
            <a:r>
              <a:rPr lang="en-GB">
                <a:solidFill>
                  <a:srgbClr val="0D0D0D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GB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‘longitud’</a:t>
            </a:r>
            <a:r>
              <a:rPr lang="en-GB">
                <a:solidFill>
                  <a:srgbClr val="0D0D0D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GB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‘latitud’</a:t>
            </a:r>
            <a:r>
              <a:rPr lang="en-GB">
                <a:solidFill>
                  <a:srgbClr val="0D0D0D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>
              <a:solidFill>
                <a:srgbClr val="0D0D0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8" name="Google Shape;14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1201" y="583638"/>
            <a:ext cx="430150" cy="4301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9" name="Google Shape;149;p22"/>
          <p:cNvGraphicFramePr/>
          <p:nvPr/>
        </p:nvGraphicFramePr>
        <p:xfrm>
          <a:off x="547075" y="192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{C49C3490-0705-4971-B070-BAFBE7342E30}</a:tableStyleId>
              </a:tblPr>
              <a:tblGrid>
                <a:gridCol w="1888200"/>
                <a:gridCol w="2088725"/>
                <a:gridCol w="1923100"/>
                <a:gridCol w="2062550"/>
              </a:tblGrid>
              <a:tr h="35752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Air Quality</a:t>
                      </a:r>
                      <a:r>
                        <a:rPr b="1" lang="en-GB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b="1" lang="en-GB">
                          <a:solidFill>
                            <a:schemeClr val="accen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Finalist Country Results</a:t>
                      </a:r>
                      <a:endParaRPr b="1">
                        <a:solidFill>
                          <a:schemeClr val="accen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</a:tr>
              <a:tr h="380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Guinea-Bissau	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 Madagascar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      Nepal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      Togo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159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D0D0D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City Name: Bissau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D0D0D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D0D0D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Country Code: GW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D0D0D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D0D0D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Longitude: -15.5667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D0D0D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D0D0D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Latitude: 11.85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D0D0D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D0D0D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D0D0D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AQI: 100 - Moderate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D0D0D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D0D0D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PM2.5: 35 - Moderate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D0D0D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D0D0D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O3: 74 - Unhealthy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D0D0D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000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City Name: Antananarivo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000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Country Code: MG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000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Longitude: 47.525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000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Latitude: -18.91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000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AQI: 91 - Moderate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000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PM2.5: 31 - Moderate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000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O3: 46 - Good</a:t>
                      </a:r>
                      <a:endParaRPr b="1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000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City Name: Kathmandu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000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Country Code: NP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000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Longitude: 85.32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000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Latitude: 27.71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000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AQI: 176 - Dangerous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000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PM2.5: 75 - Dangerous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000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O3: 109 - Dangerous</a:t>
                      </a:r>
                      <a:endParaRPr b="1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000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City Name: Lomé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000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Country Code: TG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000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Longitude: 1.2228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000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Latitude: 6.1319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000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AQI: 72 - Moderate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000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PM2.5: 22 - Moderate</a:t>
                      </a:r>
                      <a:endParaRPr b="1" sz="105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lt1"/>
                          </a:solidFill>
                          <a:highlight>
                            <a:srgbClr val="0000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O3: 52 - Good</a:t>
                      </a:r>
                      <a:endParaRPr b="1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150" name="Google Shape;150;p22"/>
          <p:cNvSpPr txBox="1"/>
          <p:nvPr/>
        </p:nvSpPr>
        <p:spPr>
          <a:xfrm>
            <a:off x="1874275" y="2317975"/>
            <a:ext cx="430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🇬🇼</a:t>
            </a:r>
            <a:endParaRPr sz="1500"/>
          </a:p>
        </p:txBody>
      </p:sp>
      <p:sp>
        <p:nvSpPr>
          <p:cNvPr id="151" name="Google Shape;151;p22"/>
          <p:cNvSpPr txBox="1"/>
          <p:nvPr/>
        </p:nvSpPr>
        <p:spPr>
          <a:xfrm>
            <a:off x="3798125" y="2317975"/>
            <a:ext cx="430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🇲🇬</a:t>
            </a:r>
            <a:endParaRPr sz="1500"/>
          </a:p>
        </p:txBody>
      </p:sp>
      <p:sp>
        <p:nvSpPr>
          <p:cNvPr id="152" name="Google Shape;152;p22"/>
          <p:cNvSpPr txBox="1"/>
          <p:nvPr/>
        </p:nvSpPr>
        <p:spPr>
          <a:xfrm>
            <a:off x="5528700" y="2302525"/>
            <a:ext cx="430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🇳🇵</a:t>
            </a:r>
            <a:endParaRPr sz="1700"/>
          </a:p>
        </p:txBody>
      </p:sp>
      <p:sp>
        <p:nvSpPr>
          <p:cNvPr id="153" name="Google Shape;153;p22"/>
          <p:cNvSpPr txBox="1"/>
          <p:nvPr/>
        </p:nvSpPr>
        <p:spPr>
          <a:xfrm>
            <a:off x="7445000" y="2317975"/>
            <a:ext cx="547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🇹🇬</a:t>
            </a:r>
            <a:endParaRPr sz="1500"/>
          </a:p>
        </p:txBody>
      </p:sp>
      <p:sp>
        <p:nvSpPr>
          <p:cNvPr id="154" name="Google Shape;154;p22"/>
          <p:cNvSpPr txBox="1"/>
          <p:nvPr/>
        </p:nvSpPr>
        <p:spPr>
          <a:xfrm>
            <a:off x="2755025" y="4367600"/>
            <a:ext cx="1473300" cy="287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Highest % </a:t>
            </a:r>
            <a:r>
              <a:rPr lang="en-GB" sz="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education</a:t>
            </a:r>
            <a:r>
              <a:rPr lang="en-GB" sz="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⭐</a:t>
            </a:r>
            <a:endParaRPr sz="9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5"/>
                </a:solidFill>
              </a:rPr>
              <a:t>Conclusions &amp; </a:t>
            </a:r>
            <a:r>
              <a:rPr lang="en-GB">
                <a:solidFill>
                  <a:schemeClr val="accent5"/>
                </a:solidFill>
              </a:rPr>
              <a:t>Insights</a:t>
            </a:r>
            <a:r>
              <a:rPr lang="en-GB">
                <a:solidFill>
                  <a:schemeClr val="accent5"/>
                </a:solidFill>
              </a:rPr>
              <a:t> 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60" name="Google Shape;160;p23"/>
          <p:cNvSpPr txBox="1"/>
          <p:nvPr/>
        </p:nvSpPr>
        <p:spPr>
          <a:xfrm>
            <a:off x="631500" y="2528175"/>
            <a:ext cx="7881000" cy="12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accent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Hypothesis 2:</a:t>
            </a:r>
            <a:endParaRPr b="1" sz="1100">
              <a:solidFill>
                <a:schemeClr val="accent1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D0D0D"/>
              </a:buClr>
              <a:buSzPts val="1100"/>
              <a:buFont typeface="Open Sans"/>
              <a:buChar char="●"/>
            </a:pPr>
            <a:r>
              <a:rPr lang="en-GB" sz="1100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Overall </a:t>
            </a:r>
            <a:r>
              <a:rPr b="1" lang="en-GB" sz="1100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African countries</a:t>
            </a:r>
            <a:r>
              <a:rPr lang="en-GB" sz="1100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🌍 look like a </a:t>
            </a:r>
            <a:r>
              <a:rPr b="1" lang="en-GB" sz="1100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good </a:t>
            </a:r>
            <a:r>
              <a:rPr b="1" lang="en-GB" sz="1100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alternative 🔄</a:t>
            </a:r>
            <a:r>
              <a:rPr lang="en-GB" sz="1100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to explore, offering </a:t>
            </a:r>
            <a:r>
              <a:rPr b="1" lang="en-GB" sz="1100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better air quality ♻️</a:t>
            </a:r>
            <a:r>
              <a:rPr lang="en-GB" sz="1100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while </a:t>
            </a:r>
            <a:r>
              <a:rPr b="1" lang="en-GB" sz="1100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keeping costs</a:t>
            </a:r>
            <a:r>
              <a:rPr lang="en-GB" sz="1100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💰comparable to the Asian locations. (Examples: Guinea-Bissau, </a:t>
            </a:r>
            <a:r>
              <a:rPr b="1" lang="en-GB" sz="1100">
                <a:solidFill>
                  <a:srgbClr val="BF9000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Madagascar ⭐</a:t>
            </a:r>
            <a:r>
              <a:rPr lang="en-GB" sz="1100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, or Togo)</a:t>
            </a:r>
            <a:endParaRPr sz="1100">
              <a:solidFill>
                <a:srgbClr val="0D0D0D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100"/>
              <a:buFont typeface="Open Sans"/>
              <a:buChar char="●"/>
            </a:pPr>
            <a:r>
              <a:rPr b="1" lang="en-GB" sz="1100">
                <a:solidFill>
                  <a:srgbClr val="FF0000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Project limitation</a:t>
            </a:r>
            <a:r>
              <a:rPr lang="en-GB" sz="1100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⚠️</a:t>
            </a:r>
            <a:endParaRPr sz="1100">
              <a:solidFill>
                <a:srgbClr val="0D0D0D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AutoNum type="alphaLcPeriod"/>
            </a:pPr>
            <a:r>
              <a:rPr lang="en-GB" sz="1100" u="sng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Air quality and labor costs</a:t>
            </a:r>
            <a:r>
              <a:rPr lang="en-GB" sz="1100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(minimum wage, unemployment rate, and education) are </a:t>
            </a:r>
            <a:r>
              <a:rPr lang="en-GB" sz="1100" u="sng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not the only factors to consider</a:t>
            </a:r>
            <a:r>
              <a:rPr lang="en-GB" sz="1100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when deciding new locations.</a:t>
            </a:r>
            <a:endParaRPr sz="1100">
              <a:solidFill>
                <a:srgbClr val="0D0D0D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AutoNum type="alphaLcPeriod"/>
            </a:pPr>
            <a:r>
              <a:rPr lang="en-GB" sz="1100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This study is not definitive or final. </a:t>
            </a:r>
            <a:r>
              <a:rPr lang="en-GB" sz="1100" u="sng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Other factors, such as political stability, conflicts, or resources, could significantly influence the decision-making process</a:t>
            </a:r>
            <a:r>
              <a:rPr lang="en-GB" sz="1100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when exploring new locations in Africa.</a:t>
            </a:r>
            <a:endParaRPr sz="1100">
              <a:solidFill>
                <a:srgbClr val="0D0D0D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61" name="Google Shape;16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6600" y="445025"/>
            <a:ext cx="496925" cy="49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3"/>
          <p:cNvSpPr txBox="1"/>
          <p:nvPr/>
        </p:nvSpPr>
        <p:spPr>
          <a:xfrm>
            <a:off x="631500" y="1333800"/>
            <a:ext cx="7881000" cy="11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accent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Hypothesis 1:</a:t>
            </a:r>
            <a:endParaRPr b="1" sz="1100">
              <a:solidFill>
                <a:schemeClr val="accent1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D0D0D"/>
              </a:buClr>
              <a:buSzPts val="1100"/>
              <a:buFont typeface="Open Sans"/>
              <a:buChar char="●"/>
            </a:pPr>
            <a:r>
              <a:rPr b="1" lang="en-GB" sz="1100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Two-thirds</a:t>
            </a:r>
            <a:r>
              <a:rPr lang="en-GB" sz="1100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of our current locations are </a:t>
            </a:r>
            <a:r>
              <a:rPr b="1" lang="en-GB" sz="1100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unhealthy 😷</a:t>
            </a:r>
            <a:r>
              <a:rPr lang="en-GB" sz="1100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, and </a:t>
            </a:r>
            <a:r>
              <a:rPr b="1" lang="en-GB" sz="1100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one-third</a:t>
            </a:r>
            <a:r>
              <a:rPr lang="en-GB" sz="1100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is </a:t>
            </a:r>
            <a:r>
              <a:rPr b="1" lang="en-GB" sz="1100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dangerous ☠️</a:t>
            </a:r>
            <a:r>
              <a:rPr lang="en-GB" sz="1100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in terms of </a:t>
            </a:r>
            <a:r>
              <a:rPr b="1" lang="en-GB" sz="1100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Air Quality</a:t>
            </a:r>
            <a:r>
              <a:rPr lang="en-GB" sz="1100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1100">
              <a:solidFill>
                <a:srgbClr val="0D0D0D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100"/>
              <a:buFont typeface="Open Sans"/>
              <a:buChar char="●"/>
            </a:pPr>
            <a:r>
              <a:rPr b="1" lang="en-GB" sz="1100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Hypotesis 1 = True</a:t>
            </a:r>
            <a:r>
              <a:rPr lang="en-GB" sz="1100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: The air quality in our current cities (Gurugram, Hyderabad, and Manila) is unhealthy or dangerous. If air quality is a crucial factor for our next location, exploring new places is worthwhile.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/>
              <a:t>Thank You! </a:t>
            </a:r>
            <a:endParaRPr sz="4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